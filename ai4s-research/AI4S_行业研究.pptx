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与摘要" id="{5402051f-694d-e564-1721-9e353a120215}">
          <p14:sldIdLst>
            <p14:sldId id="256"/>
            <p14:sldId id="257"/>
          </p14:sldIdLst>
        </p14:section>
        <p14:section name="行业与市场" id="{1037dc72-7810-4c6e-645a-dcb9fe4fb70a}">
          <p14:sldIdLst>
            <p14:sldId id="258"/>
            <p14:sldId id="259"/>
            <p14:sldId id="260"/>
            <p14:sldId id="261"/>
          </p14:sldIdLst>
        </p14:section>
        <p14:section name="技术与产业链" id="{2a9d3cc3-d785-00ec-054c-0ac570a5a60f}">
          <p14:sldIdLst>
            <p14:sldId id="262"/>
            <p14:sldId id="263"/>
          </p14:sldIdLst>
        </p14:section>
        <p14:section name="竞争格局" id="{eb7fe0cf-7482-b94e-a327-aaadfc19dc7b}">
          <p14:sldIdLst>
            <p14:sldId id="264"/>
            <p14:sldId id="265"/>
          </p14:sldIdLst>
        </p14:section>
        <p14:section name="资本与政策" id="{01c1bccd-7024-4e4f-2d33-f0117d3354b9}">
          <p14:sldIdLst>
            <p14:sldId id="266"/>
            <p14:sldId id="267"/>
          </p14:sldIdLst>
        </p14:section>
        <p14:section name="商业化与风险" id="{bc37b583-f087-d3da-7adc-76a5817cdef7}">
          <p14:sldIdLst>
            <p14:sldId id="268"/>
            <p14:sldId id="269"/>
          </p14:sldIdLst>
        </p14:section>
        <p14:section name="展望与建议" id="{c540c4cc-2a83-87ba-7d79-460f9df50d56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22E"/>
                </a:solidFill>
                <a:latin typeface="+mn-lt"/>
              </a:rPr>
              <a:t>窄口径：AI 科学发现软件+服务，2025 年（亿美元）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年规模（亿美元）</c:v>
                </c:pt>
              </c:strCache>
            </c:strRef>
          </c:tx>
          <c:spPr>
            <a:solidFill>
              <a:srgbClr val="0E8C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2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Market.us</c:v>
                  </c:pt>
                  <c:pt idx="1">
                    <c:v>Precedence</c:v>
                  </c:pt>
                  <c:pt idx="2">
                    <c:v>Marketintelo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47.2</c:v>
                </c:pt>
                <c:pt idx="1">
                  <c:v>48</c:v>
                </c:pt>
                <c:pt idx="2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2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DD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22E"/>
                </a:solidFill>
                <a:latin typeface="+mn-lt"/>
              </a:rPr>
              <a:t>全球 AI4S（窄口径）市场规模（亿美元）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规模（亿美元）</c:v>
                </c:pt>
              </c:strCache>
            </c:strRef>
          </c:tx>
          <c:spPr>
            <a:solidFill>
              <a:srgbClr val="0E8C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2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C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C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A1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A13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8C8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8C8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E8C8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E8C84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2023E</c:v>
                  </c:pt>
                  <c:pt idx="1">
                    <c:v>2024E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2027E</c:v>
                  </c:pt>
                  <c:pt idx="5">
                    <c:v>2028E</c:v>
                  </c:pt>
                  <c:pt idx="6">
                    <c:v>2029E</c:v>
                  </c:pt>
                  <c:pt idx="7">
                    <c:v>2030E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</c:v>
                </c:pt>
                <c:pt idx="1">
                  <c:v>40</c:v>
                </c:pt>
                <c:pt idx="2">
                  <c:v>48</c:v>
                </c:pt>
                <c:pt idx="3">
                  <c:v>58.5</c:v>
                </c:pt>
                <c:pt idx="4">
                  <c:v>71</c:v>
                </c:pt>
                <c:pt idx="5">
                  <c:v>87</c:v>
                </c:pt>
                <c:pt idx="6">
                  <c:v>106</c:v>
                </c:pt>
                <c:pt idx="7">
                  <c:v>129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2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6350" cap="flat">
              <a:solidFill>
                <a:srgbClr val="DD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22E"/>
                </a:solidFill>
                <a:latin typeface="+mn-lt"/>
              </a:rPr>
              <a:t>代表性 AI4S 单笔融资（亿美元）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亿美元</c:v>
                </c:pt>
              </c:strCache>
            </c:strRef>
          </c:tx>
          <c:spPr>
            <a:solidFill>
              <a:srgbClr val="0E8C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2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Isomorphic B 轮 '26</c:v>
                  </c:pt>
                  <c:pt idx="1">
                    <c:v>Xaira 启动 '24</c:v>
                  </c:pt>
                  <c:pt idx="2">
                    <c:v>Isomorphic A 轮 '25</c:v>
                  </c:pt>
                  <c:pt idx="3">
                    <c:v>Generate IPO '26</c:v>
                  </c:pt>
                  <c:pt idx="4">
                    <c:v>Chai C 轮 '26</c:v>
                  </c:pt>
                  <c:pt idx="5">
                    <c:v>Lila A 轮 '25</c:v>
                  </c:pt>
                  <c:pt idx="6">
                    <c:v>Periodic 种子 '25</c:v>
                  </c:pt>
                  <c:pt idx="7">
                    <c:v>英矽 IPO '25</c:v>
                  </c:pt>
                  <c:pt idx="8">
                    <c:v>Chai B 轮 '25</c:v>
                  </c:pt>
                  <c:pt idx="9">
                    <c:v>深势 C 轮 '25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</c:v>
                </c:pt>
                <c:pt idx="1">
                  <c:v>10</c:v>
                </c:pt>
                <c:pt idx="2">
                  <c:v>6</c:v>
                </c:pt>
                <c:pt idx="3">
                  <c:v>4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2.9</c:v>
                </c:pt>
                <c:pt idx="8">
                  <c:v>1.3</c:v>
                </c:pt>
                <c:pt idx="9">
                  <c:v>1.14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2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b"/>
        <c:majorGridlines>
          <c:spPr>
            <a:ln w="6350" cap="flat">
              <a:solidFill>
                <a:srgbClr val="DD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亿美元</c:v>
                </c:pt>
              </c:strCache>
            </c:strRef>
          </c:tx>
          <c:spPr>
            <a:solidFill>
              <a:srgbClr val="E0A1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2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89</c:v>
                </c:pt>
                <c:pt idx="1">
                  <c:v>110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2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AI4S 行业研究，覆盖全球与中国。所有数字均标注来源，机构口径差异大，后续页会说明。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一页看懂：口径、资本、政策、商业化、中国。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定义：将机器学习、生成式模型、大模型智能体与机器人自动化用于假设生成、模拟、实验与知识发现的新科研范式。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AI for Science 行业研究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全球与中国市场 · 技术 · 产业链 · 玩家 · 资本 · 政策 · 趋势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研究日期 2026-10-10 ｜ 数据来源：公开资料（2024–2026），货币未注明者为美元</a:t>
            </a:r>
            <a:endParaRPr lang="en-US" sz="1200" dirty="0"/>
          </a:p>
        </p:txBody>
      </p:sp>
      <p:sp>
        <p:nvSpPr>
          <p:cNvPr id="5" name="title-atom-circle"/>
          <p:cNvSpPr/>
          <p:nvPr/>
        </p:nvSpPr>
        <p:spPr>
          <a:xfrm>
            <a:off x="731520" y="9144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title-atom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12014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五个核心结论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来源：本报告综合 Precedence、Hyperion、公司公告、政府文件等，详见末页</a:t>
            </a:r>
            <a:endParaRPr lang="en-US" sz="1000" dirty="0"/>
          </a:p>
        </p:txBody>
      </p:sp>
      <p:sp>
        <p:nvSpPr>
          <p:cNvPr id="4" name="exec-0-circle"/>
          <p:cNvSpPr/>
          <p:nvPr/>
        </p:nvSpPr>
        <p:spPr>
          <a:xfrm>
            <a:off x="548640" y="139903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exec-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63624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市场口径不统一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3258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8"/>
                </a:solidFill>
              </a:rPr>
              <a:t>窄口径 AI 科学发现市场 2025 年约 47–86 亿美元；含算力的 HPC+AI for science 支出约 700 亿美元</a:t>
            </a:r>
            <a:endParaRPr lang="en-US" sz="1400" dirty="0"/>
          </a:p>
        </p:txBody>
      </p:sp>
      <p:sp>
        <p:nvSpPr>
          <p:cNvPr id="8" name="exec-1-circle"/>
          <p:cNvSpPr/>
          <p:nvPr/>
        </p:nvSpPr>
        <p:spPr>
          <a:xfrm>
            <a:off x="548640" y="237744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exec-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4203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30428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资本转向 AI 科学家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663440" y="2304288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8"/>
                </a:solidFill>
              </a:rPr>
              <a:t>Isomorphic 21 亿美元 B 轮；Lila、Periodic、Chai 等“基础模型+湿实验闭环”独角兽涌现</a:t>
            </a:r>
            <a:endParaRPr lang="en-US" sz="1400" dirty="0"/>
          </a:p>
        </p:txBody>
      </p:sp>
      <p:sp>
        <p:nvSpPr>
          <p:cNvPr id="12" name="exec-2-circle"/>
          <p:cNvSpPr/>
          <p:nvPr/>
        </p:nvSpPr>
        <p:spPr>
          <a:xfrm>
            <a:off x="548640" y="3355848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exec-2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52044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282696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国家队全面入场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663440" y="3282696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8"/>
                </a:solidFill>
              </a:rPr>
              <a:t>美国 Genesis Mission、中国“人工智能+科学技术”、欧盟 RAISE、英国 AI for Science 战略</a:t>
            </a:r>
            <a:endParaRPr lang="en-US" sz="1400" dirty="0"/>
          </a:p>
        </p:txBody>
      </p:sp>
      <p:sp>
        <p:nvSpPr>
          <p:cNvPr id="16" name="exec-3-circle"/>
          <p:cNvSpPr/>
          <p:nvPr/>
        </p:nvSpPr>
        <p:spPr>
          <a:xfrm>
            <a:off x="548640" y="4334256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exec-3-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49884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426110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现金收入仍很薄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4663440" y="4261104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8"/>
                </a:solidFill>
              </a:rPr>
              <a:t>礼来–英矽交易最高 27.5 亿美元，但首付仅 1.15 亿；英矽 2025 年收入约 5,620 万美元</a:t>
            </a:r>
            <a:endParaRPr lang="en-US" sz="1400" dirty="0"/>
          </a:p>
        </p:txBody>
      </p:sp>
      <p:sp>
        <p:nvSpPr>
          <p:cNvPr id="20" name="exec-4-circle"/>
          <p:cNvSpPr/>
          <p:nvPr/>
        </p:nvSpPr>
        <p:spPr>
          <a:xfrm>
            <a:off x="548640" y="5312664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exec-4-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477256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523951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中国局部领先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4663440" y="523951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8"/>
                </a:solidFill>
              </a:rPr>
              <a:t>开源科学大模型、AI 气象、AI 制药出海 BD 进展快；专项统计与一级市场体量偏弱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AI4S 覆盖八大方向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来源：北京科学智能研究院、科技部“人工智能驱动的科学研究”专项部署（2023）、各公司公开资料</a:t>
            </a:r>
            <a:endParaRPr lang="en-US" sz="1000" dirty="0"/>
          </a:p>
        </p:txBody>
      </p:sp>
      <p:sp>
        <p:nvSpPr>
          <p:cNvPr id="4" name="dir-card-0"/>
          <p:cNvSpPr/>
          <p:nvPr/>
        </p:nvSpPr>
        <p:spPr>
          <a:xfrm>
            <a:off x="548640" y="1371600"/>
            <a:ext cx="262432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5" name="dir-0-circle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dir-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3957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药物发现/蛋白设计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163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8"/>
                </a:solidFill>
              </a:rPr>
              <a:t>AlphaFold 3、Chai-2、Pharma.AI</a:t>
            </a:r>
            <a:endParaRPr lang="en-US" sz="1200" dirty="0"/>
          </a:p>
        </p:txBody>
      </p:sp>
      <p:sp>
        <p:nvSpPr>
          <p:cNvPr id="9" name="dir-card-1"/>
          <p:cNvSpPr/>
          <p:nvPr/>
        </p:nvSpPr>
        <p:spPr>
          <a:xfrm>
            <a:off x="3355848" y="1371600"/>
            <a:ext cx="262432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0" name="dir-1-circle"/>
          <p:cNvSpPr/>
          <p:nvPr/>
        </p:nvSpPr>
        <p:spPr>
          <a:xfrm>
            <a:off x="3630168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dir-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188" y="18059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30168" y="23957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材料与化学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30168" y="28163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8"/>
                </a:solidFill>
              </a:rPr>
              <a:t>GNoME、MatterGen、DPA</a:t>
            </a:r>
            <a:endParaRPr lang="en-US" sz="1200" dirty="0"/>
          </a:p>
        </p:txBody>
      </p:sp>
      <p:sp>
        <p:nvSpPr>
          <p:cNvPr id="14" name="dir-card-2"/>
          <p:cNvSpPr/>
          <p:nvPr/>
        </p:nvSpPr>
        <p:spPr>
          <a:xfrm>
            <a:off x="6163056" y="1371600"/>
            <a:ext cx="262432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5" name="dir-2-circle"/>
          <p:cNvSpPr/>
          <p:nvPr/>
        </p:nvSpPr>
        <p:spPr>
          <a:xfrm>
            <a:off x="6437376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dir-2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18059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37376" y="23957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气象与地球科学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37376" y="28163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8"/>
                </a:solidFill>
              </a:rPr>
              <a:t>GenCast、AIFS、盘古、风清</a:t>
            </a:r>
            <a:endParaRPr lang="en-US" sz="1200" dirty="0"/>
          </a:p>
        </p:txBody>
      </p:sp>
      <p:sp>
        <p:nvSpPr>
          <p:cNvPr id="19" name="dir-card-3"/>
          <p:cNvSpPr/>
          <p:nvPr/>
        </p:nvSpPr>
        <p:spPr>
          <a:xfrm>
            <a:off x="8970264" y="1371600"/>
            <a:ext cx="262432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0" name="dir-3-circle"/>
          <p:cNvSpPr/>
          <p:nvPr/>
        </p:nvSpPr>
        <p:spPr>
          <a:xfrm>
            <a:off x="9244584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dir-3-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604" y="18059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44584" y="23957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物理/核聚变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244584" y="28163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8"/>
                </a:solidFill>
              </a:rPr>
              <a:t>托卡马克控制、TORAX</a:t>
            </a:r>
            <a:endParaRPr lang="en-US" sz="1200" dirty="0"/>
          </a:p>
        </p:txBody>
      </p:sp>
      <p:sp>
        <p:nvSpPr>
          <p:cNvPr id="24" name="dir-card-4"/>
          <p:cNvSpPr/>
          <p:nvPr/>
        </p:nvSpPr>
        <p:spPr>
          <a:xfrm>
            <a:off x="548640" y="3749040"/>
            <a:ext cx="262432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5" name="dir-4-circle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dir-4-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18338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22960" y="4773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生命科学/基因组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822960" y="5193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8"/>
                </a:solidFill>
              </a:rPr>
              <a:t>Evo 2、AlphaGenome、ESM3</a:t>
            </a:r>
            <a:endParaRPr lang="en-US" sz="1200" dirty="0"/>
          </a:p>
        </p:txBody>
      </p:sp>
      <p:sp>
        <p:nvSpPr>
          <p:cNvPr id="29" name="dir-card-5"/>
          <p:cNvSpPr/>
          <p:nvPr/>
        </p:nvSpPr>
        <p:spPr>
          <a:xfrm>
            <a:off x="3355848" y="3749040"/>
            <a:ext cx="262432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30" name="dir-5-circle"/>
          <p:cNvSpPr/>
          <p:nvPr/>
        </p:nvSpPr>
        <p:spPr>
          <a:xfrm>
            <a:off x="3630168" y="4023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dir-5-glyph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0188" y="418338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630168" y="4773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数学与 AI Scientist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3630168" y="5193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8"/>
                </a:solidFill>
              </a:rPr>
              <a:t>AlphaEvolve、co-scientist、Kosmos</a:t>
            </a:r>
            <a:endParaRPr lang="en-US" sz="1200" dirty="0"/>
          </a:p>
        </p:txBody>
      </p:sp>
      <p:sp>
        <p:nvSpPr>
          <p:cNvPr id="34" name="dir-card-6"/>
          <p:cNvSpPr/>
          <p:nvPr/>
        </p:nvSpPr>
        <p:spPr>
          <a:xfrm>
            <a:off x="6163056" y="3749040"/>
            <a:ext cx="262432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35" name="dir-6-circle"/>
          <p:cNvSpPr/>
          <p:nvPr/>
        </p:nvSpPr>
        <p:spPr>
          <a:xfrm>
            <a:off x="6437376" y="4023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dir-6-glyph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396" y="4183380"/>
            <a:ext cx="320040" cy="32004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37376" y="4773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自主实验室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6437376" y="5193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8"/>
                </a:solidFill>
              </a:rPr>
              <a:t>A-Lab、Lila、Periodic、Uni-Lab</a:t>
            </a:r>
            <a:endParaRPr lang="en-US" sz="1200" dirty="0"/>
          </a:p>
        </p:txBody>
      </p:sp>
      <p:sp>
        <p:nvSpPr>
          <p:cNvPr id="39" name="dir-card-7"/>
          <p:cNvSpPr/>
          <p:nvPr/>
        </p:nvSpPr>
        <p:spPr>
          <a:xfrm>
            <a:off x="8970264" y="3749040"/>
            <a:ext cx="262432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0" name="dir-7-circle"/>
          <p:cNvSpPr/>
          <p:nvPr/>
        </p:nvSpPr>
        <p:spPr>
          <a:xfrm>
            <a:off x="9244584" y="4023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dir-7-glyph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4604" y="4183380"/>
            <a:ext cx="320040" cy="32004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244584" y="4773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科学计算基础设施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9244584" y="5193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8"/>
                </a:solidFill>
              </a:rPr>
              <a:t>BioNeMo、Microsoft Discovery、玻尔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市场规模：口径差异达十倍以上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来源：Market.us、Precedence Research、Marketintelo（2025/26）；Hyperion Research via HPCwire（2026-06）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hyperion-card"/>
          <p:cNvSpPr/>
          <p:nvPr/>
        </p:nvSpPr>
        <p:spPr>
          <a:xfrm>
            <a:off x="7589520" y="1371600"/>
            <a:ext cx="4023360" cy="448056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广义口径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~700 亿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3108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美元 · 2025 年 HPC+AI for science 全栈支出（含硬件、云、软件、服务）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2030 年 → ~1,400 亿美元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两种口径不可比、不可相加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窄口径市场 2030 年有望达到约 130 亿美元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注：2025–26 为 Precedence 原始数据，其余年份按 21.9% CAGR 推算（估计）；区间上沿含 Marketintelo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498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503920" y="1463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21.9%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CAGR 2026–35（Precedence）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971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110–200 亿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2030 年区间（美元，估计）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4480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~44%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5212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软件平台占 2025 年份额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细分市场：AI 制药最大，中国增速最快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来源：Arizton、ResearchAndMarkets、MarketsandMarkets、GlobeNewswire（2026-07）、共研产业研究院（2024）、头豹研究院</a:t>
            </a:r>
            <a:endParaRPr lang="en-US" sz="1000" dirty="0"/>
          </a:p>
        </p:txBody>
      </p:sp>
      <p:sp>
        <p:nvSpPr>
          <p:cNvPr id="4" name="seg-card-0"/>
          <p:cNvSpPr/>
          <p:nvPr/>
        </p:nvSpPr>
        <p:spPr>
          <a:xfrm>
            <a:off x="548640" y="1371600"/>
            <a:ext cx="3520440" cy="4663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5" name="seg-0-circle"/>
          <p:cNvSpPr/>
          <p:nvPr/>
        </p:nvSpPr>
        <p:spPr>
          <a:xfrm>
            <a:off x="86868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eg-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药物发现（全球）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85–130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8"/>
                </a:solidFill>
              </a:rPr>
              <a:t>亿美元 · 2030 年主流机构区间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1605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2025 年约 20–70 亿美元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CAGR 10–31%，差异来自是否计入药企内部支出与里程碑收入</a:t>
            </a:r>
            <a:endParaRPr lang="en-US" sz="1300" dirty="0"/>
          </a:p>
        </p:txBody>
      </p:sp>
      <p:sp>
        <p:nvSpPr>
          <p:cNvPr id="11" name="seg-card-1"/>
          <p:cNvSpPr/>
          <p:nvPr/>
        </p:nvSpPr>
        <p:spPr>
          <a:xfrm>
            <a:off x="4297680" y="1371600"/>
            <a:ext cx="3520440" cy="4663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2" name="seg-1-circle"/>
          <p:cNvSpPr/>
          <p:nvPr/>
        </p:nvSpPr>
        <p:spPr>
          <a:xfrm>
            <a:off x="461772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seg-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8059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1772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生成式 AI 材料（全球）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70</a:t>
            </a:r>
            <a:endParaRPr lang="en-US" sz="40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8"/>
                </a:solidFill>
              </a:rPr>
              <a:t>亿美元 · 2030 年（ResearchAndMarkets）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41605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2025 年 16.8 亿 → 2026 年 22.4 亿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材料信息学窄口径：2030 年 4.1 亿（MarketsandMarkets）</a:t>
            </a:r>
            <a:endParaRPr lang="en-US" sz="1300" dirty="0"/>
          </a:p>
        </p:txBody>
      </p:sp>
      <p:sp>
        <p:nvSpPr>
          <p:cNvPr id="18" name="seg-card-2"/>
          <p:cNvSpPr/>
          <p:nvPr/>
        </p:nvSpPr>
        <p:spPr>
          <a:xfrm>
            <a:off x="8046720" y="1371600"/>
            <a:ext cx="3520440" cy="4663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9" name="seg-2-circle"/>
          <p:cNvSpPr/>
          <p:nvPr/>
        </p:nvSpPr>
        <p:spPr>
          <a:xfrm>
            <a:off x="8366760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seg-2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18059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6676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中国 AI4S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36676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200–400</a:t>
            </a:r>
            <a:endParaRPr lang="en-US" sz="4000" dirty="0"/>
          </a:p>
        </p:txBody>
      </p:sp>
      <p:sp>
        <p:nvSpPr>
          <p:cNvPr id="23" name="Text 18"/>
          <p:cNvSpPr txBox="1"/>
          <p:nvPr/>
        </p:nvSpPr>
        <p:spPr>
          <a:xfrm>
            <a:off x="836676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8"/>
                </a:solidFill>
              </a:rPr>
              <a:t>亿元人民币 · 2030 年（估计）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366760" y="41605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共研：2023/24 年 AI4S 应用市场 47 亿元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头豹：AI 制药 2024–28 年 CAGR 68.5%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技术演进：从专用模型走向“假设—实验”闭环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来源：Nature/Science 论文、nobelprize.org、ECMWF、DeepMind、State of AI</a:t>
            </a:r>
            <a:endParaRPr lang="en-US" sz="1000" dirty="0"/>
          </a:p>
        </p:txBody>
      </p:sp>
      <p:sp>
        <p:nvSpPr>
          <p:cNvPr id="4" name="era-0"/>
          <p:cNvSpPr/>
          <p:nvPr/>
        </p:nvSpPr>
        <p:spPr>
          <a:xfrm>
            <a:off x="548640" y="1371600"/>
            <a:ext cx="35204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AI4S 1.0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645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2018–2022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专用模型解决单点问题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AlphaFold 2 达到实验精度；DeePMD 分子动力学势函数</a:t>
            </a:r>
            <a:endParaRPr lang="en-US" sz="1300" dirty="0"/>
          </a:p>
        </p:txBody>
      </p:sp>
      <p:sp>
        <p:nvSpPr>
          <p:cNvPr id="9" name="era-1"/>
          <p:cNvSpPr/>
          <p:nvPr/>
        </p:nvSpPr>
        <p:spPr>
          <a:xfrm>
            <a:off x="4297680" y="1371600"/>
            <a:ext cx="35204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AI4S 2.0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45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2023–2025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科学基础模型与业务化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51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AlphaFold 3、GNoME、Evo 2、书生 Intern-S1；ECMWF AIFS 2025-02 业务运行</a:t>
            </a:r>
            <a:endParaRPr lang="en-US" sz="1300" dirty="0"/>
          </a:p>
        </p:txBody>
      </p:sp>
      <p:sp>
        <p:nvSpPr>
          <p:cNvPr id="14" name="era-2"/>
          <p:cNvSpPr/>
          <p:nvPr/>
        </p:nvSpPr>
        <p:spPr>
          <a:xfrm>
            <a:off x="8046720" y="1371600"/>
            <a:ext cx="3520440" cy="251460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AI4S 3.0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1645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2025–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智能体 + 自主实验室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51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AI co-scientist、Kosmos、Lila、Periodic、DeepMind 英国自动化实验室</a:t>
            </a:r>
            <a:endParaRPr lang="en-US" sz="1300" dirty="0"/>
          </a:p>
        </p:txBody>
      </p:sp>
      <p:sp>
        <p:nvSpPr>
          <p:cNvPr id="19" name="timeline-axis"/>
          <p:cNvSpPr/>
          <p:nvPr/>
        </p:nvSpPr>
        <p:spPr>
          <a:xfrm>
            <a:off x="822960" y="4572000"/>
            <a:ext cx="10515600" cy="0"/>
          </a:xfrm>
          <a:prstGeom prst="line">
            <a:avLst/>
          </a:prstGeom>
          <a:noFill/>
          <a:ln w="25400">
            <a:solidFill>
              <a:srgbClr val="C3D3D2"/>
            </a:solidFill>
            <a:prstDash val="solid"/>
          </a:ln>
        </p:spPr>
      </p:sp>
      <p:sp>
        <p:nvSpPr>
          <p:cNvPr id="20" name="ms-dot-0"/>
          <p:cNvSpPr/>
          <p:nvPr/>
        </p:nvSpPr>
        <p:spPr>
          <a:xfrm>
            <a:off x="713232" y="446227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800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2020-11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120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AlphaFold 2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CASP14 夺冠</a:t>
            </a:r>
            <a:endParaRPr lang="en-US" sz="1200" dirty="0"/>
          </a:p>
        </p:txBody>
      </p:sp>
      <p:sp>
        <p:nvSpPr>
          <p:cNvPr id="23" name="ms-dot-1"/>
          <p:cNvSpPr/>
          <p:nvPr/>
        </p:nvSpPr>
        <p:spPr>
          <a:xfrm>
            <a:off x="2816352" y="446227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57400" y="4800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2023-11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057400" y="5120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GNoME 发现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38 万种稳定晶体</a:t>
            </a:r>
            <a:endParaRPr lang="en-US" sz="1200" dirty="0"/>
          </a:p>
        </p:txBody>
      </p:sp>
      <p:sp>
        <p:nvSpPr>
          <p:cNvPr id="26" name="ms-dot-2"/>
          <p:cNvSpPr/>
          <p:nvPr/>
        </p:nvSpPr>
        <p:spPr>
          <a:xfrm>
            <a:off x="4919472" y="4462272"/>
            <a:ext cx="219456" cy="21945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60520" y="4800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2024-10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160520" y="5120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诺贝尔化学奖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授予 AlphaFold</a:t>
            </a:r>
            <a:endParaRPr lang="en-US" sz="1200" dirty="0"/>
          </a:p>
        </p:txBody>
      </p:sp>
      <p:sp>
        <p:nvSpPr>
          <p:cNvPr id="29" name="ms-dot-3"/>
          <p:cNvSpPr/>
          <p:nvPr/>
        </p:nvSpPr>
        <p:spPr>
          <a:xfrm>
            <a:off x="7022592" y="446227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4800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2025-05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5120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AlphaEvolve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改进 Strassen</a:t>
            </a:r>
            <a:endParaRPr lang="en-US" sz="1200" dirty="0"/>
          </a:p>
        </p:txBody>
      </p:sp>
      <p:sp>
        <p:nvSpPr>
          <p:cNvPr id="32" name="ms-dot-4"/>
          <p:cNvSpPr/>
          <p:nvPr/>
        </p:nvSpPr>
        <p:spPr>
          <a:xfrm>
            <a:off x="9125712" y="446227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66760" y="4800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2025-11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5120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美国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Genesis Mission</a:t>
            </a:r>
            <a:endParaRPr lang="en-US" sz="1200" dirty="0"/>
          </a:p>
        </p:txBody>
      </p:sp>
      <p:sp>
        <p:nvSpPr>
          <p:cNvPr id="35" name="ms-dot-5"/>
          <p:cNvSpPr/>
          <p:nvPr/>
        </p:nvSpPr>
        <p:spPr>
          <a:xfrm>
            <a:off x="11228832" y="4462272"/>
            <a:ext cx="219456" cy="21945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902952" y="4800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2026-09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902952" y="5120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rentosertib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进入 III 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产业链：价值集中在算力与制药两端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来源：Hyperion Research（2026）、北京 AI 赋能科研行动计划（2025）、公司公告</a:t>
            </a:r>
            <a:endParaRPr lang="en-US" sz="1000" dirty="0"/>
          </a:p>
        </p:txBody>
      </p:sp>
      <p:sp>
        <p:nvSpPr>
          <p:cNvPr id="4" name="chain-0"/>
          <p:cNvSpPr/>
          <p:nvPr/>
        </p:nvSpPr>
        <p:spPr>
          <a:xfrm>
            <a:off x="548640" y="1371600"/>
            <a:ext cx="3520440" cy="4663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5" name="chain-icon-0-circle"/>
          <p:cNvSpPr/>
          <p:nvPr/>
        </p:nvSpPr>
        <p:spPr>
          <a:xfrm>
            <a:off x="86868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hain-icon-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上游 · 基础资源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1460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算力：NVIDIA/AMD、华为昇腾、国家超算、DOE 17 个国家实验室、公有云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数据：PDB、UniProt、Materials Project、ERA5、ChEMBL、专有湿实验数据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瓶颈：高质量实验数据稀缺；中国受出口管制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166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HPC+AI for science 云支出 2025 年 124 亿美元</a:t>
            </a:r>
            <a:endParaRPr lang="en-US" sz="1300" dirty="0"/>
          </a:p>
        </p:txBody>
      </p:sp>
      <p:sp>
        <p:nvSpPr>
          <p:cNvPr id="10" name="chain-1"/>
          <p:cNvSpPr/>
          <p:nvPr/>
        </p:nvSpPr>
        <p:spPr>
          <a:xfrm>
            <a:off x="4297680" y="1371600"/>
            <a:ext cx="3520440" cy="4663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1" name="chain-icon-1-circle"/>
          <p:cNvSpPr/>
          <p:nvPr/>
        </p:nvSpPr>
        <p:spPr>
          <a:xfrm>
            <a:off x="461772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chain-icon-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8059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9496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中游 · 模型与平台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251460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科学基础模型：AlphaFold 3、Evo 2、Intern-S1、xTrimo、DPA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平台/SaaS：Schrödinger、BioNeMo、玻尔、Microsoft Discovery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自主实验室与 AI 原生 Biotech：Lila、Periodic、Isomorphic、英矽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5166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Schrödinger 2025 年软件收入 2.0 亿美元</a:t>
            </a:r>
            <a:endParaRPr lang="en-US" sz="1300" dirty="0"/>
          </a:p>
        </p:txBody>
      </p:sp>
      <p:sp>
        <p:nvSpPr>
          <p:cNvPr id="16" name="chain-2"/>
          <p:cNvSpPr/>
          <p:nvPr/>
        </p:nvSpPr>
        <p:spPr>
          <a:xfrm>
            <a:off x="8046720" y="1371600"/>
            <a:ext cx="3520440" cy="4663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7" name="chain-icon-2-circle"/>
          <p:cNvSpPr/>
          <p:nvPr/>
        </p:nvSpPr>
        <p:spPr>
          <a:xfrm>
            <a:off x="836676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chain-icon-2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18059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4400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下游 · 应用行业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251460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制药/生物：礼来、诺华、赛诺菲、强生、恒瑞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材料/化工/电池/半导体；核聚变与能源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气象：ECMWF、中国气象局；保险、农业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5166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礼来–英矽最高 27.5 亿美元</a:t>
            </a:r>
            <a:endParaRPr lang="en-US" sz="1300" dirty="0"/>
          </a:p>
        </p:txBody>
      </p:sp>
      <p:sp>
        <p:nvSpPr>
          <p:cNvPr id="22" name="chain-arrow-0"/>
          <p:cNvSpPr/>
          <p:nvPr/>
        </p:nvSpPr>
        <p:spPr>
          <a:xfrm>
            <a:off x="4087368" y="3566160"/>
            <a:ext cx="182880" cy="27432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3" name="chain-arrow-1"/>
          <p:cNvSpPr/>
          <p:nvPr/>
        </p:nvSpPr>
        <p:spPr>
          <a:xfrm>
            <a:off x="7836408" y="3566160"/>
            <a:ext cx="182880" cy="27432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国际玩家：巨头研究院与 AI 原生公司并进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来源：公司公告、10-K、Bloomberg、Reuters；带 * 为媒体报道的洽谈信息，尚未确认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3566160"/>
                <a:gridCol w="32918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公司/机构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类型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代表产品/成果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融资/收入/估值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Google DeepMind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巨头研究部门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AlphaFold、GNoME、AlphaEvolve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2026 年在英国建自动化材料实验室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Isomorphic Labs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 制药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IsoDDE；与礼来、诺华、强生合作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 轮 21 亿美元（2026-05）；估值 ≥400 亿*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NVIDIA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算力+平台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BioNeMo、Earth-2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与礼来共建最高 10 亿美元实验室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Microsoft Research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巨头研究部门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MatterGen、Aurora、Discovery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Recursion（RXRX）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 原生 Biotech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Recursion OS；合并 Exscientia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2025 年收入 7,470 万美元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Schrödinger（SDGR）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计算+AI 软件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分子模拟平台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2025 年收入 2.56 亿美元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Lila Sciences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自主实验室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 Science Factories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估值 &gt;13 亿；洽谈 85 亿*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Periodic Labs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 科学家+材料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超导、散热材料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种子轮 3 亿美元；估值约 70 亿*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Chai Discovery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分子设计模型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Chai-1 / Chai-2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 轮 4 亿美元，估值 38 亿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中国玩家：上市公司、平台独角兽与国家队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来源：公司公告、36Kr、SCMP、新华网；晶泰 2025 年财务数据为媒体转述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286000"/>
                <a:gridCol w="6126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公司/机构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定位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关键进展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晶泰科技（2228.HK）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AI+机器人药物/材料发现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2025 年收入约 8.03 亿元（+201%），首次全年盈利；DoveTree 合作约 59.9 亿美元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英矽智能（3696.HK）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 制药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2025-12 港股 IPO 募资 22.77 亿港元；rentosertib III 期；礼来最高 27.5 亿美元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深势科技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AI4S 平台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玻尔 Bohrium、Uni-Lab；C 轮超 8 亿元，投后估值超 60 亿元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百图生科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生命科学基础模型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xTrimo V3（2,100 亿参数）；赛诺菲合作超 10 亿美元；推进港股 IPO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上海人工智能实验室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国家级研发机构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书生 Intern-S1 / S2 开源科学大模型；风乌气象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北京科学智能研究院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新型研发机构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DPA 大原子模型（90+ 元素）；玻尔科研空间站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华为 / 中国气象局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巨头 / 国家业务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盘古气象（Nature 2023）；风清、风雷、风顺业务模型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资本：单笔融资跃升到十亿美元级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来源：公司公告、Bloomberg、Reuters；英矽 IPO 22.77 亿港元按汇率折算约 2.9 亿美元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药物发现风险投资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7680960" y="1783080"/>
          <a:ext cx="39319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77240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E78"/>
                </a:solidFill>
              </a:rPr>
              <a:t>交易笔数 264 → 348（IntuitionLabs，二手汇编）</a:t>
            </a:r>
            <a:endParaRPr lang="en-US" sz="1100" dirty="0"/>
          </a:p>
        </p:txBody>
      </p:sp>
      <p:sp>
        <p:nvSpPr>
          <p:cNvPr id="8" name="bd-card"/>
          <p:cNvSpPr/>
          <p:nvPr/>
        </p:nvSpPr>
        <p:spPr>
          <a:xfrm>
            <a:off x="7772400" y="4480560"/>
            <a:ext cx="38404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00100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BD 头条金额 ≠ 现金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50292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礼来–英矽：首付 1.15 亿 / 总额 27.5 亿（4.2%）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晶泰–DoveTree：首付 0.51 亿 / 总额 59.9 亿（0.9%）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政策：AI4S 成为大国科技竞争主线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来源：gov.cn、Federal Register（EO 14363）、DOE、欧盟委员会、gov.uk、北京市政府</a:t>
            </a:r>
            <a:endParaRPr lang="en-US" sz="1000" dirty="0"/>
          </a:p>
        </p:txBody>
      </p:sp>
      <p:sp>
        <p:nvSpPr>
          <p:cNvPr id="4" name="pol-0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5" name="pol-badge-0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中国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6459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国发〔2025〕11 号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“人工智能+科学技术”列六大行动之首；北京 2025–27 行动计划与 2026–28 实施方案（自主实验室、科学模型、科学数据等 18 项任务）</a:t>
            </a:r>
            <a:endParaRPr lang="en-US" sz="1300" dirty="0"/>
          </a:p>
        </p:txBody>
      </p:sp>
      <p:sp>
        <p:nvSpPr>
          <p:cNvPr id="9" name="pol-1"/>
          <p:cNvSpPr/>
          <p:nvPr/>
        </p:nvSpPr>
        <p:spPr>
          <a:xfrm>
            <a:off x="6172200" y="137160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0" name="pol-badge-1"/>
          <p:cNvSpPr/>
          <p:nvPr/>
        </p:nvSpPr>
        <p:spPr>
          <a:xfrm>
            <a:off x="644652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美国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6459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Genesis Mission（2025-11）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514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DOE 牵头建设 American Science and Security Platform；伙伴承诺超 8 亿美元，2.93 亿美元 RFA，美日 10 亿美元合作</a:t>
            </a:r>
            <a:endParaRPr lang="en-US" sz="1300" dirty="0"/>
          </a:p>
        </p:txBody>
      </p:sp>
      <p:sp>
        <p:nvSpPr>
          <p:cNvPr id="14" name="pol-2"/>
          <p:cNvSpPr/>
          <p:nvPr/>
        </p:nvSpPr>
        <p:spPr>
          <a:xfrm>
            <a:off x="548640" y="374904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5" name="pol-badge-2"/>
          <p:cNvSpPr/>
          <p:nvPr/>
        </p:nvSpPr>
        <p:spPr>
          <a:xfrm>
            <a:off x="822960" y="4023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23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欧盟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0233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 in Science 战略 / RAISE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92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2025-10 发布；RAISE 试点 1.07 亿欧元；承诺 2028 年前 AI 科研投入翻倍</a:t>
            </a:r>
            <a:endParaRPr lang="en-US" sz="1300" dirty="0"/>
          </a:p>
        </p:txBody>
      </p:sp>
      <p:sp>
        <p:nvSpPr>
          <p:cNvPr id="19" name="pol-3"/>
          <p:cNvSpPr/>
          <p:nvPr/>
        </p:nvSpPr>
        <p:spPr>
          <a:xfrm>
            <a:off x="6172200" y="374904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20" name="pol-badge-3"/>
          <p:cNvSpPr/>
          <p:nvPr/>
        </p:nvSpPr>
        <p:spPr>
          <a:xfrm>
            <a:off x="6446520" y="4023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023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英国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40233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 for Science Strategy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892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2025-11 发布，15 项行动、最高 1.37 亿英镑，首要聚焦药物发现；UKRI 2026–30 年 AI 投入 16 亿英镑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商业模式：服务化最先盈利，管线价值最大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来源：Schrödinger、Recursion、晶泰、英矽 2025 年报/公告；临床统计为二手汇编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315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1645920"/>
                <a:gridCol w="18288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模式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代表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优势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挑战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软件/SaaS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Schrödinger、玻尔、BioNeMo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现金流稳、毛利高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开源模型带来价格压力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合作 + 里程碑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Isomorphic、英矽、百图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头条金额大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现金集中在首付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自研管线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英矽、Recursion、Xaira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价值捕获最大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烧钱多、周期长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CRO/服务化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晶泰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现金快，已盈利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毛利与估值倍数低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政府/机构合同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气象、国家实验室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规模大、稳定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回款慢、难复制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321040" y="1371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~1%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临床在研药物中 AI 发现的占比（约 67/6,147）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971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~40%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3703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AI 发现分子 II 期成功率，与历史水平相当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4572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5303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完全由 AI 发现并获批上市的新药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风险：数据与湿实验是最大瓶颈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来源：本报告综合整理；严重度为研究判断</a:t>
            </a:r>
            <a:endParaRPr lang="en-US" sz="1000" dirty="0"/>
          </a:p>
        </p:txBody>
      </p:sp>
      <p:sp>
        <p:nvSpPr>
          <p:cNvPr id="4" name="risk-pill-0"/>
          <p:cNvSpPr/>
          <p:nvPr/>
        </p:nvSpPr>
        <p:spPr>
          <a:xfrm>
            <a:off x="548640" y="1417320"/>
            <a:ext cx="82296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高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325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数据稀缺与质量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3258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8"/>
                </a:solidFill>
              </a:rPr>
              <a:t>实验数据少、阴性结果缺失、跨实验室不一致</a:t>
            </a:r>
            <a:endParaRPr lang="en-US" sz="1400" dirty="0"/>
          </a:p>
        </p:txBody>
      </p:sp>
      <p:sp>
        <p:nvSpPr>
          <p:cNvPr id="8" name="risk-pill-1"/>
          <p:cNvSpPr/>
          <p:nvPr/>
        </p:nvSpPr>
        <p:spPr>
          <a:xfrm>
            <a:off x="548640" y="2103120"/>
            <a:ext cx="82296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103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高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011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实验验证瓶颈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0116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8"/>
                </a:solidFill>
              </a:rPr>
              <a:t>干实验快、湿实验慢，合成、表征与临床是卡点</a:t>
            </a:r>
            <a:endParaRPr lang="en-US" sz="1400" dirty="0"/>
          </a:p>
        </p:txBody>
      </p:sp>
      <p:sp>
        <p:nvSpPr>
          <p:cNvPr id="12" name="risk-pill-2"/>
          <p:cNvSpPr/>
          <p:nvPr/>
        </p:nvSpPr>
        <p:spPr>
          <a:xfrm>
            <a:off x="548640" y="2788920"/>
            <a:ext cx="82296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7889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中高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2697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可解释性与复现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6974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8"/>
                </a:solidFill>
              </a:rPr>
              <a:t>黑箱难入监管决策；厂商自报基准缺乏独立验证</a:t>
            </a:r>
            <a:endParaRPr lang="en-US" sz="1400" dirty="0"/>
          </a:p>
        </p:txBody>
      </p:sp>
      <p:sp>
        <p:nvSpPr>
          <p:cNvPr id="16" name="risk-pill-3"/>
          <p:cNvSpPr/>
          <p:nvPr/>
        </p:nvSpPr>
        <p:spPr>
          <a:xfrm>
            <a:off x="548640" y="3474720"/>
            <a:ext cx="82296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74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中高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3832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估值泡沫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3832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8"/>
                </a:solidFill>
              </a:rPr>
              <a:t>2026 年头部估值跃升，临床失败可能引发重估</a:t>
            </a:r>
            <a:endParaRPr lang="en-US" sz="1400" dirty="0"/>
          </a:p>
        </p:txBody>
      </p:sp>
      <p:sp>
        <p:nvSpPr>
          <p:cNvPr id="20" name="risk-pill-4"/>
          <p:cNvSpPr/>
          <p:nvPr/>
        </p:nvSpPr>
        <p:spPr>
          <a:xfrm>
            <a:off x="548640" y="4160520"/>
            <a:ext cx="82296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1605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中高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4069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算力获取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40690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8"/>
                </a:solidFill>
              </a:rPr>
              <a:t>前沿训练成本高；中国受出口管制</a:t>
            </a:r>
            <a:endParaRPr lang="en-US" sz="1400" dirty="0"/>
          </a:p>
        </p:txBody>
      </p:sp>
      <p:sp>
        <p:nvSpPr>
          <p:cNvPr id="24" name="risk-pill-5"/>
          <p:cNvSpPr/>
          <p:nvPr/>
        </p:nvSpPr>
        <p:spPr>
          <a:xfrm>
            <a:off x="548640" y="4846320"/>
            <a:ext cx="822960" cy="41148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8463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中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645920" y="4754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监管与地缘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47548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8"/>
                </a:solidFill>
              </a:rPr>
              <a:t>FDA/NMPA AI 证据规则演进；中美数据与模型生态分化</a:t>
            </a:r>
            <a:endParaRPr lang="en-US" sz="1400" dirty="0"/>
          </a:p>
        </p:txBody>
      </p:sp>
      <p:sp>
        <p:nvSpPr>
          <p:cNvPr id="28" name="risk-pill-6"/>
          <p:cNvSpPr/>
          <p:nvPr/>
        </p:nvSpPr>
        <p:spPr>
          <a:xfrm>
            <a:off x="548640" y="5532120"/>
            <a:ext cx="822960" cy="41148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5532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中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645920" y="5440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生物安全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54406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8"/>
                </a:solidFill>
              </a:rPr>
              <a:t>生物设计模型存在双重用途风险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2026–2030 六大趋势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来源：本报告研究判断</a:t>
            </a:r>
            <a:endParaRPr lang="en-US" sz="1000" dirty="0"/>
          </a:p>
        </p:txBody>
      </p:sp>
      <p:sp>
        <p:nvSpPr>
          <p:cNvPr id="4" name="trend-0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5" name="trend-icon-0-circle"/>
          <p:cNvSpPr/>
          <p:nvPr/>
        </p:nvSpPr>
        <p:spPr>
          <a:xfrm>
            <a:off x="822960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trend-icon-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7945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645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从模型到闭环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智能体 + 自主实验室 + 专有数据飞轮成为竞争焦点</a:t>
            </a:r>
            <a:endParaRPr lang="en-US" sz="1300" dirty="0"/>
          </a:p>
        </p:txBody>
      </p:sp>
      <p:sp>
        <p:nvSpPr>
          <p:cNvPr id="9" name="trend-1"/>
          <p:cNvSpPr/>
          <p:nvPr/>
        </p:nvSpPr>
        <p:spPr>
          <a:xfrm>
            <a:off x="4297680" y="137160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0" name="trend-icon-1-circle"/>
          <p:cNvSpPr/>
          <p:nvPr/>
        </p:nvSpPr>
        <p:spPr>
          <a:xfrm>
            <a:off x="4572000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trend-icon-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90" y="17945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645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开源与闭源分化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423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美国闭源前沿模型 + Genesis 平台；中国开源科学大模型 + 国家队平台</a:t>
            </a:r>
            <a:endParaRPr lang="en-US" sz="1300" dirty="0"/>
          </a:p>
        </p:txBody>
      </p:sp>
      <p:sp>
        <p:nvSpPr>
          <p:cNvPr id="14" name="trend-2"/>
          <p:cNvSpPr/>
          <p:nvPr/>
        </p:nvSpPr>
        <p:spPr>
          <a:xfrm>
            <a:off x="8046720" y="137160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5" name="trend-icon-2-circle"/>
          <p:cNvSpPr/>
          <p:nvPr/>
        </p:nvSpPr>
        <p:spPr>
          <a:xfrm>
            <a:off x="8321040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trend-icon-2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30" y="179451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98280" y="1645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 制药临床兑现期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423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rentosertib III 期、Isomorphic 首个临床、Generate III 期检验真实价值</a:t>
            </a:r>
            <a:endParaRPr lang="en-US" sz="1300" dirty="0"/>
          </a:p>
        </p:txBody>
      </p:sp>
      <p:sp>
        <p:nvSpPr>
          <p:cNvPr id="19" name="trend-3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20" name="trend-icon-3-circle"/>
          <p:cNvSpPr/>
          <p:nvPr/>
        </p:nvSpPr>
        <p:spPr>
          <a:xfrm>
            <a:off x="822960" y="4023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trend-icon-3-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17195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023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 气象全面业务化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800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向次季节/气候、能源调度与保险延伸</a:t>
            </a:r>
            <a:endParaRPr lang="en-US" sz="1300" dirty="0"/>
          </a:p>
        </p:txBody>
      </p:sp>
      <p:sp>
        <p:nvSpPr>
          <p:cNvPr id="24" name="trend-4"/>
          <p:cNvSpPr/>
          <p:nvPr/>
        </p:nvSpPr>
        <p:spPr>
          <a:xfrm>
            <a:off x="4297680" y="37490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25" name="trend-icon-4-circle"/>
          <p:cNvSpPr/>
          <p:nvPr/>
        </p:nvSpPr>
        <p:spPr>
          <a:xfrm>
            <a:off x="4572000" y="4023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trend-icon-4-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590" y="417195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4023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材料与能源第二曲线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800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电池、超导、半导体材料与核聚变的 AI 投资加速</a:t>
            </a:r>
            <a:endParaRPr lang="en-US" sz="1300" dirty="0"/>
          </a:p>
        </p:txBody>
      </p:sp>
      <p:sp>
        <p:nvSpPr>
          <p:cNvPr id="29" name="trend-5"/>
          <p:cNvSpPr/>
          <p:nvPr/>
        </p:nvSpPr>
        <p:spPr>
          <a:xfrm>
            <a:off x="8046720" y="37490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30" name="trend-icon-5-circle"/>
          <p:cNvSpPr/>
          <p:nvPr/>
        </p:nvSpPr>
        <p:spPr>
          <a:xfrm>
            <a:off x="8321040" y="4023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trend-icon-5-glyph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630" y="417195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98280" y="4023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资本集中与整合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4800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78"/>
                </a:solidFill>
              </a:rPr>
              <a:t>巨头与国家资本主导，中小工具型公司面临并购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投资与战略建议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来源：本报告研究判断，不构成投资建议</a:t>
            </a:r>
            <a:endParaRPr lang="en-US" sz="1000" dirty="0"/>
          </a:p>
        </p:txBody>
      </p:sp>
      <p:sp>
        <p:nvSpPr>
          <p:cNvPr id="4" name="rec-num-0"/>
          <p:cNvSpPr/>
          <p:nvPr/>
        </p:nvSpPr>
        <p:spPr>
          <a:xfrm>
            <a:off x="548640" y="139903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99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25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押注闭环能力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37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看实验通量、数据独占性和迭代速度，而非单纯模型层</a:t>
            </a:r>
            <a:endParaRPr lang="en-US" sz="1300" dirty="0"/>
          </a:p>
        </p:txBody>
      </p:sp>
      <p:sp>
        <p:nvSpPr>
          <p:cNvPr id="8" name="rec-num-1"/>
          <p:cNvSpPr/>
          <p:nvPr/>
        </p:nvSpPr>
        <p:spPr>
          <a:xfrm>
            <a:off x="6172200" y="139903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1399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325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看现金不看头条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737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用首付与现金收入评估 AI 制药，重视 II 期以上数据</a:t>
            </a:r>
            <a:endParaRPr lang="en-US" sz="1300" dirty="0"/>
          </a:p>
        </p:txBody>
      </p:sp>
      <p:sp>
        <p:nvSpPr>
          <p:cNvPr id="12" name="rec-num-2"/>
          <p:cNvSpPr/>
          <p:nvPr/>
        </p:nvSpPr>
        <p:spPr>
          <a:xfrm>
            <a:off x="548640" y="263347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5603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把握临床催化剂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971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2026–27 年 rentosertib、Isomorphic、Generate 读出需做好对冲</a:t>
            </a:r>
            <a:endParaRPr lang="en-US" sz="1300" dirty="0"/>
          </a:p>
        </p:txBody>
      </p:sp>
      <p:sp>
        <p:nvSpPr>
          <p:cNvPr id="16" name="rec-num-3"/>
          <p:cNvSpPr/>
          <p:nvPr/>
        </p:nvSpPr>
        <p:spPr>
          <a:xfrm>
            <a:off x="6172200" y="263347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5603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出海 BD + 港股上市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971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英矽、晶泰已验证；平台公司借政策与国资开拓海外客户</a:t>
            </a:r>
            <a:endParaRPr lang="en-US" sz="1300" dirty="0"/>
          </a:p>
        </p:txBody>
      </p:sp>
      <p:sp>
        <p:nvSpPr>
          <p:cNvPr id="20" name="rec-num-4"/>
          <p:cNvSpPr/>
          <p:nvPr/>
        </p:nvSpPr>
        <p:spPr>
          <a:xfrm>
            <a:off x="548640" y="3867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794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关注材料/能源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06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电池、半导体材料、催化的 AI + 自动化实验平台相对低估</a:t>
            </a:r>
            <a:endParaRPr lang="en-US" sz="1300" dirty="0"/>
          </a:p>
        </p:txBody>
      </p:sp>
      <p:sp>
        <p:nvSpPr>
          <p:cNvPr id="24" name="rec-num-5"/>
          <p:cNvSpPr/>
          <p:nvPr/>
        </p:nvSpPr>
        <p:spPr>
          <a:xfrm>
            <a:off x="6172200" y="3867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7220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794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切入政府采购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206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Genesis、RAISE、国内科学数据库与智能科研平台</a:t>
            </a:r>
            <a:endParaRPr lang="en-US" sz="1300" dirty="0"/>
          </a:p>
        </p:txBody>
      </p:sp>
      <p:sp>
        <p:nvSpPr>
          <p:cNvPr id="28" name="rec-num-6"/>
          <p:cNvSpPr/>
          <p:nvPr/>
        </p:nvSpPr>
        <p:spPr>
          <a:xfrm>
            <a:off x="548640" y="510235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5102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029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警惕估值过热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5440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要求独立基准和前瞻性实验验证，控制高估值轮次仓位</a:t>
            </a:r>
            <a:endParaRPr lang="en-US" sz="1300" dirty="0"/>
          </a:p>
        </p:txBody>
      </p:sp>
      <p:sp>
        <p:nvSpPr>
          <p:cNvPr id="32" name="rec-num-7"/>
          <p:cNvSpPr/>
          <p:nvPr/>
        </p:nvSpPr>
        <p:spPr>
          <a:xfrm>
            <a:off x="6172200" y="510235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172200" y="5102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5029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合规前置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5440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提前设计数据跨境、生物安全与模型可解释性治理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数据可信度与主要来源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完整来源链接见配套 HTML 报告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可信度备注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市场规模来自商业机构公开摘要，机构间差异 3–10 倍；标“E/估计”的年份为外推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Lila、Periodic、Isomorphic 400 亿美元估值均为洽谈中报道，未确认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药物 VC 总额、Genesis“50 亿美元/278 个项目”仅有单一二手来源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中国 AI4S 专项规模仅共研 47 亿元一个口径，2030 年区间为估计</a:t>
            </a:r>
            <a:endParaRPr lang="en-US" sz="1400" dirty="0"/>
          </a:p>
        </p:txBody>
      </p:sp>
      <p:sp>
        <p:nvSpPr>
          <p:cNvPr id="6" name="src-card"/>
          <p:cNvSpPr/>
          <p:nvPr/>
        </p:nvSpPr>
        <p:spPr>
          <a:xfrm>
            <a:off x="6309360" y="1371600"/>
            <a:ext cx="530352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主要来源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10312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市场：Precedence、Market.us、Technavio、Marketintelo、Hyperion Research、Arizton、MarketsandMarkets、共研、头豹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公司：Isomorphic、Recursion、Schrödinger、英矽、晶泰、深势、Chai、Generate 公告与年报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媒体：Bloomberg、Reuters、Fierce Biotech、36Kr、SCMP、新华网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政策：gov.cn、Federal Register、DOE、欧盟委员会、gov.uk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科研：Nature、Science、nobelprize.org、ECMWF、DeepMind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4S Petrol">
  <a:themeElements>
    <a:clrScheme name="AI4S Petrol">
      <a:dk1>
        <a:srgbClr val="16222E"/>
      </a:dk1>
      <a:lt1>
        <a:srgbClr val="FFFFFF"/>
      </a:lt1>
      <a:dk2>
        <a:srgbClr val="123642"/>
      </a:dk2>
      <a:lt2>
        <a:srgbClr val="EDF3F2"/>
      </a:lt2>
      <a:accent1>
        <a:srgbClr val="0E8C84"/>
      </a:accent1>
      <a:accent2>
        <a:srgbClr val="E0A133"/>
      </a:accent2>
      <a:accent3>
        <a:srgbClr val="5B7C99"/>
      </a:accent3>
      <a:accent4>
        <a:srgbClr val="B5533C"/>
      </a:accent4>
      <a:accent5>
        <a:srgbClr val="8FC1BA"/>
      </a:accent5>
      <a:accent6>
        <a:srgbClr val="C3D3D2"/>
      </a:accent6>
      <a:hlink>
        <a:srgbClr val="0E8C84"/>
      </a:hlink>
      <a:folHlink>
        <a:srgbClr val="5B7C99"/>
      </a:folHlink>
    </a:clrScheme>
    <a:fontScheme name="AI4S Petrol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Science 行业研究</dc:title>
  <dc:subject>PptxGenJS Presentation</dc:subject>
  <dc:creator>Claude Code</dc:creator>
  <cp:lastModifiedBy>Claude Code</cp:lastModifiedBy>
  <cp:revision>1</cp:revision>
  <dcterms:created xsi:type="dcterms:W3CDTF">2026-10-10T14:57:01Z</dcterms:created>
  <dcterms:modified xsi:type="dcterms:W3CDTF">2026-10-10T14:57:01Z</dcterms:modified>
</cp:coreProperties>
</file>